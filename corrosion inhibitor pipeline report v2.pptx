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erriweather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25503" y="2173387"/>
            <a:ext cx="91410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Data-Driven Corrosion</a:t>
            </a:r>
            <a:endParaRPr b="1" sz="435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Inhibitor Modeling</a:t>
            </a:r>
            <a:endParaRPr b="1" sz="435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810050" y="3931090"/>
            <a:ext cx="257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Pipeline Progress Report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93598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52006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238250"/>
            <a:ext cx="5200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Goal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885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Predict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Inhibition Efficiency (IE)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of surfactant-based inhibitors to recommend optimal formulations.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876550"/>
            <a:ext cx="5200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Expanded Data Structure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5242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~300 Lab Tests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across three distinct media: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24525"/>
            <a:ext cx="4953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*Dataset now includes a specific 'medium' column and updated pH values.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95325" y="41719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417195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HCl: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Low pH ≈ 0.5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5325" y="45910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459105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NaCl: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Medium pH ≈ 4.9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95325" y="50101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501015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CPS (Concrete Pore Solution):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High pH ≈ 12.5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300287"/>
            <a:ext cx="35559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300287"/>
            <a:ext cx="35559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2300287"/>
            <a:ext cx="3555950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Preprocessing Pipeline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199018" y="3281362"/>
            <a:ext cx="21102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Cleaning &amp; Logic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3929062"/>
            <a:ext cx="2965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Dropped redundant columns and normalized "Unnamed" entries. Scaled IE using Active Agent (IE = IE × AA / 100).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770685" y="3281362"/>
            <a:ext cx="265033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Imputation &amp; Scaling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13225" y="3929062"/>
            <a:ext cx="2965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Applied train-only mean imputation for numeric features followed by standard scaling (StandardScaler).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397484" y="3281362"/>
            <a:ext cx="10801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Splitting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54925" y="3929062"/>
            <a:ext cx="296540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Data split into Train (70%), Validation (15%), and Test (15%). Saved as cleaned artifacts in data/processed.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9838" y="264318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351" y="26431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47051" y="264318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669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EDA: Distribution Insights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476250" y="2690812"/>
            <a:ext cx="56507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Observations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90575" y="31575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57250" y="315753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Inhibition Efficiency (IE):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Ranges broadly from -52% to 95%. Distinct shifts in IE distributions are visible across the three different media.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90575" y="41862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7250" y="418623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 Clustering: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Unlike the previous dataset, pH now clusters clearly at three poles: 0.5 (HCl), 4.9 (NaCl), and 12.5 (CPS), driving the segmentation of the analysis.</a:t>
            </a:r>
            <a:endParaRPr/>
          </a:p>
        </p:txBody>
      </p:sp>
      <p:pic>
        <p:nvPicPr>
          <p:cNvPr id="136" name="Google Shape;136;p16" title="histogram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9851" y="1888325"/>
            <a:ext cx="4757217" cy="4167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669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EDA: Correlations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476250" y="2481262"/>
            <a:ext cx="56507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Heatmap Findings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90575" y="29479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57250" y="29479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 &amp; IE Link: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 strong correlation exists between low pH and higher Inhibition Efficiency.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90575" y="3671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57250" y="36718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Concentration: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Exhibits a mild negative relationship with IE.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90575" y="43957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57250" y="439578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Other Features: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Show moderate to no linear correlation, suggesting that complex non-linear models (like Random Forest) are required to capture these interactions.</a:t>
            </a:r>
            <a:endParaRPr/>
          </a:p>
        </p:txBody>
      </p:sp>
      <p:pic>
        <p:nvPicPr>
          <p:cNvPr id="151" name="Google Shape;151;p17" title="correlation_heat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1760" y="1940712"/>
            <a:ext cx="4546355" cy="406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224087"/>
            <a:ext cx="5381625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24087"/>
            <a:ext cx="5381625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Engineering &amp; Access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771525" y="2519362"/>
            <a:ext cx="503062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Canonical Feature Set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71525" y="3024187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feature set has been updated to explicitly include pH as a variable driver: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629400" y="2519362"/>
            <a:ext cx="503062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Pipeline Integration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629400" y="3024187"/>
            <a:ext cx="4791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features.load_splits()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29400" y="3519487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This function creates a unified interface to grab processed (X, y) splits, ensuring that the model always trains on the most up-to-date data artifacts.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71525" y="3824287"/>
            <a:ext cx="23479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Carbon # (C#)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3214687" y="3824287"/>
            <a:ext cx="23479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Molecular Weight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71525" y="4338637"/>
            <a:ext cx="23479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HLB Value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3214687" y="4338637"/>
            <a:ext cx="23479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Ethylene Oxide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71525" y="4852987"/>
            <a:ext cx="23479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Concentration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3214687" y="4852987"/>
            <a:ext cx="23479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 Level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88143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4687" y="388143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3957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4687" y="43957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91013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4687" y="4910137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562100"/>
            <a:ext cx="112395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Baseline Performance (R²)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476250" y="5129212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Random Forest significantly outperforms Linear Regression, confirming strong non-linearities in the data.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562100"/>
            <a:ext cx="112395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Importance Ranking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6250" y="5414962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 is the top predictor, clearly differentiating the three media types.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Next Steps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76250" y="3175694"/>
            <a:ext cx="11239500" cy="28575"/>
          </a:xfrm>
          <a:prstGeom prst="roundRect">
            <a:avLst>
              <a:gd fmla="val 16667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97575" y="3556694"/>
            <a:ext cx="33043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Model Expansion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76250" y="3994844"/>
            <a:ext cx="314697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Compare Gradient Boosting, Elastic Net, and SVR models. Analyze performance specifically for each medium scenario.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443765" y="3556694"/>
            <a:ext cx="33043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Interpretation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522440" y="3994844"/>
            <a:ext cx="314697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Report MAE/RMSE metrics. Use SHAP plots to understand how features influence predictions within each distinct medium.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489956" y="3556694"/>
            <a:ext cx="33043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Optimization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568630" y="3994844"/>
            <a:ext cx="314697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Convert the best model into actionable dosage recommendations for HCl, NaCl, and CPS environments.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1935435" y="526345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981625" y="526345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0027815" y="498916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