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Merriweather"/>
      <p:regular r:id="rId15"/>
      <p:bold r:id="rId16"/>
      <p:italic r:id="rId17"/>
      <p:boldItalic r:id="rId18"/>
    </p:embeddedFont>
    <p:embeddedFont>
      <p:font typeface="DM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11" Type="http://schemas.openxmlformats.org/officeDocument/2006/relationships/slide" Target="slides/slide6.xml"/><Relationship Id="rId22" Type="http://schemas.openxmlformats.org/officeDocument/2006/relationships/font" Target="fonts/DMSans-boldItalic.fntdata"/><Relationship Id="rId10" Type="http://schemas.openxmlformats.org/officeDocument/2006/relationships/slide" Target="slides/slide5.xml"/><Relationship Id="rId21" Type="http://schemas.openxmlformats.org/officeDocument/2006/relationships/font" Target="fonts/DM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regular.fntdata"/><Relationship Id="rId14" Type="http://schemas.openxmlformats.org/officeDocument/2006/relationships/slide" Target="slides/slide9.xml"/><Relationship Id="rId17" Type="http://schemas.openxmlformats.org/officeDocument/2006/relationships/font" Target="fonts/Merriweather-italic.fntdata"/><Relationship Id="rId16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regular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7150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525553" y="1914673"/>
            <a:ext cx="7140892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Data-Driven Corrosion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Inhibitor Modeling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810125" y="3674715"/>
            <a:ext cx="2571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Pipeline Progress Report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571500"/>
            <a:ext cx="52006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Goal &amp; Context</a:t>
            </a:r>
            <a:endParaRPr/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1676400"/>
            <a:ext cx="52006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Objective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3241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Build a predictive model for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Inhibition Efficiency (IE)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to optimize inhibitor structures and dosages.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409950"/>
            <a:ext cx="52006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Dataset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95325" y="40195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4019550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~300 Lab Runs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: Comprehensive experimental data.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95325" y="44386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443865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Key Descriptors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: Formulation (C#, Mw, HLB, EO) &amp; Conditions (Conc, pH).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95325" y="51625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516255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Strategy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: Dual-file approach (Original vs. Fixed pH 4.9) to isolate sensitivity.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2305050"/>
            <a:ext cx="35559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2305050"/>
            <a:ext cx="35559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9650" y="2305050"/>
            <a:ext cx="35559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Preprocessing &amp; Cleaning Workflow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699081" y="3286125"/>
            <a:ext cx="11101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Cleaning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71525" y="3933825"/>
            <a:ext cx="2965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Removed redundant columns, duplicates, and empty rows. Normalized "Unnamed" entries to ensure data integrity.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395763" y="3286125"/>
            <a:ext cx="14001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Calculation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13225" y="3933825"/>
            <a:ext cx="2965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Applied domain logic: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IE = IE × AA / 100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. Rescaled Inhibition Efficiency using Active Agent (AA) factor.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397484" y="3286125"/>
            <a:ext cx="10801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Splitting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54925" y="3933825"/>
            <a:ext cx="2965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Partitioned into Train (70%), Validation (15%), and Test (15%) sets. Applied train-only mean imputation and standard scaling.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63650" y="26479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52976" y="264795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47051" y="2647950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6692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Exploratory Data Analysis: Distributions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476250" y="2176462"/>
            <a:ext cx="565070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Findings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90575" y="26431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57250" y="2643187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IE Range: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Spans from -52% to ~95%, with a median around 51%. This wide variance confirms the need for robust modeling.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90575" y="36718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57250" y="3671887"/>
            <a:ext cx="50006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pH Factor: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The histogram for pH collapses to a single bar at 4.9 in the current working copy, confirming the successful isolation of this variable for sensitivity analysis.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90575" y="50053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57250" y="500538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Feature Coverage: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Formulation features cover expected ranges (e.g., C# 0–55).</a:t>
            </a:r>
            <a:endParaRPr/>
          </a:p>
        </p:txBody>
      </p:sp>
      <p:pic>
        <p:nvPicPr>
          <p:cNvPr id="136" name="Google Shape;136;p16" title="histogram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7005" y="1546260"/>
            <a:ext cx="5000627" cy="4380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6692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Exploratory Data Analysis: Correlations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476250" y="2214562"/>
            <a:ext cx="565070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Pearson Correlation Insights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76250" y="2719387"/>
            <a:ext cx="5381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heatmap reveals critical linear relationships: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90575" y="32146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57250" y="321468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Positive Correlation: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Carbon Number (C#) shows a slight positive link to IE (~0.17).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90575" y="39385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57250" y="393858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Negative Correlation: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Concentration (Conc) negatively correlates with IE (~ -0.16).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90575" y="46624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57250" y="4662487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Non-Linearity: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Weak linear correlations across other features suggest complex, non-linear interactions that simple models may miss.</a:t>
            </a:r>
            <a:endParaRPr/>
          </a:p>
        </p:txBody>
      </p:sp>
      <p:pic>
        <p:nvPicPr>
          <p:cNvPr id="152" name="Google Shape;152;p17" title="correlation_heatm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8187" y="1493547"/>
            <a:ext cx="5000627" cy="446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747837"/>
            <a:ext cx="5381625" cy="444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47837"/>
            <a:ext cx="5381625" cy="444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Engineering &amp; Loaders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771525" y="2043112"/>
            <a:ext cx="503062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Canonical Feature Set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771525" y="2547937"/>
            <a:ext cx="4791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We have locked the feature list for consistency across all models: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629400" y="2043112"/>
            <a:ext cx="503062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Pipeline Infrastructure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629400" y="2547937"/>
            <a:ext cx="4791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features.load_splits()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: A centralized function that pulls pre-processed (X_train, y_train) triples.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629400" y="3348037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Automation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: Automatically regenerates processed CSVs if missing, ensuring downstream scripts remain clean and stateless.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076325" y="334803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1152525" y="334803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Carbon Number (C#)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076325" y="376713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152525" y="376713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Molecular Weight (Mw)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076325" y="418623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152525" y="418623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HLB Value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076325" y="460533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152525" y="460533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Ethylene Oxide (EO)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076325" y="502443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152525" y="502443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Concentration (Conc)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1076325" y="544353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1152525" y="544353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pH Level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562100"/>
            <a:ext cx="11239500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Baseline Model Performance (R²)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476250" y="5129212"/>
            <a:ext cx="11239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huge gap between Random Forest and Linear Regression confirms strong non-linear effects.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562100"/>
            <a:ext cx="11239500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Importance Ranking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Roadmap</a:t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76250" y="3175694"/>
            <a:ext cx="11239500" cy="28575"/>
          </a:xfrm>
          <a:prstGeom prst="roundRect">
            <a:avLst>
              <a:gd fmla="val 16667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397575" y="3556694"/>
            <a:ext cx="330431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Model Selection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476250" y="3994844"/>
            <a:ext cx="314697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Compare Gradient Boosting, Elastic Net, and SVR. Tune hyperparameters for both original and constant-pH scenarios.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4443765" y="3556694"/>
            <a:ext cx="330431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Evaluation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4522440" y="3994844"/>
            <a:ext cx="314697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Report MAE/RMSE metrics. Generate SHAP plots to interpret complex non-linear feature interactions.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8489956" y="3556694"/>
            <a:ext cx="330431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Optimization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8568630" y="3994844"/>
            <a:ext cx="314697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Translate the best performing model into a tool for recommending optimal inhibitor structures and dosages.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1935435" y="526345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50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981625" y="498916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50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10027815" y="498916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50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