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150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25553" y="1914673"/>
            <a:ext cx="714089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Data-Driven Corrosion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Inhibitor Modeling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10125" y="3674715"/>
            <a:ext cx="2571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Pipeline Progress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Goal &amp; Context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67640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24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a predictive model for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Inhibition Efficiency (IE)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to optimize inhibitor structures and dosages.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409950"/>
            <a:ext cx="5200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5325" y="4019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0195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~300 Lab Runs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Comprehensive experimental data.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5325" y="4438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4386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Key Descriptors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Formulation (C#, Mw, HLB, EO) &amp; Conditions (Conc, pH).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5325" y="5162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1625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Strategy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Dual-file approach (Original vs. Fixed pH 4.9) to isolate sensitivity.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9650" y="2305050"/>
            <a:ext cx="35559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 &amp; Cleaning Workflow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699081" y="3286125"/>
            <a:ext cx="1110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Cleaning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Removed redundant columns, duplicates, and empty rows. Normalized "Unnamed" entries to ensure data integrity.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395763" y="3286125"/>
            <a:ext cx="1400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Applied domain logic: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IE = IE × AA / 100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 Rescaled Inhibition Efficiency using Active Agent (AA) factor.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397484" y="3286125"/>
            <a:ext cx="1080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Splitting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54925" y="393382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Partitioned into Train (70%), Validation (15%), and Test (15%) sets. Applied train-only mean imputation and standard scaling.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3650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2976" y="26479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47051" y="26479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Analysis: Distributions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32213" y="1754987"/>
            <a:ext cx="565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Findings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90575" y="2643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75" y="2238687"/>
            <a:ext cx="50007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C#, EO, and Mw Skew: C#, EO, and Mw all show strong right-skewed distributions with a few very high values, indicating potential outliers and suggesting that log-scaling or robust estimators may be beneficial in downstream modeling.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90575" y="3671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7250" y="3671887"/>
            <a:ext cx="50007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 as a Discrete Factor: pH appears only at a few distinct levels (≈2, 4–5, and 11–12), supporting its treatment as a categorical design factor rather than a continuous variable in the current experiment.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90575" y="50053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5005387"/>
            <a:ext cx="50007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HLB and IE Spread: HLB spans a broad range (≈3–22) while IE covers nearly the full performance window (≈−50% to 95%), confirming that the design explores both formulation space and response space sufficiently for capturing nonlinear relationships.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6" title="histogram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7005" y="1546260"/>
            <a:ext cx="5000627" cy="438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669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Analysis: Correlations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76250" y="2214562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Pearson Correlation Insights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6250" y="2719387"/>
            <a:ext cx="5381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heatmap reveals critical linear relationships: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90575" y="32146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7250" y="32146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Positive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Carbon Number (C#) shows a slight positive link to IE (~0.17).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90575" y="39385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7250" y="39385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Negative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Concentration (Conc) negatively correlates with IE (~ -0.16).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90575" y="4662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466248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Non-Linearity: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Weak linear correlations across other features suggest complex, non-linear interactions that simple models may miss.</a:t>
            </a:r>
            <a:endParaRPr/>
          </a:p>
        </p:txBody>
      </p:sp>
      <p:pic>
        <p:nvPicPr>
          <p:cNvPr id="152" name="Google Shape;152;p17" title="correlation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8187" y="1493547"/>
            <a:ext cx="5000627" cy="446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747837"/>
            <a:ext cx="5381625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47837"/>
            <a:ext cx="5381625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 &amp; Loaders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71525" y="204311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Canonical Feature Set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71525" y="2547937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have locked the feature list for consistency across all models: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629400" y="2043112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Infrastructure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629400" y="2547937"/>
            <a:ext cx="4791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features.load_splits()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A centralized function that pulls pre-processed (X_train, y_train) triples.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29400" y="3348037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 Automatically regenerates processed CSVs if missing, ensuring downstream scripts remain clean and stateless.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76325" y="33480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152525" y="33480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Carbon Number (C#)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76325" y="37671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52525" y="37671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Molecular Weight (Mw)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76325" y="41862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52525" y="41862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HLB Value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76325" y="46053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52525" y="46053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Ethylene Oxide (EO)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76325" y="50244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52525" y="50244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Concentration (Conc)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76325" y="544353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152525" y="5443537"/>
            <a:ext cx="4410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 Level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Baseline Model Performance (R²)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76250" y="5129212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huge gap between Random Forest and Linear Regression confirms strong non-linear effects.</a:t>
            </a:r>
            <a:endParaRPr/>
          </a:p>
        </p:txBody>
      </p:sp>
      <p:pic>
        <p:nvPicPr>
          <p:cNvPr id="185" name="Google Shape;185;p19" title="baseline_performance_metric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376" y="1314450"/>
            <a:ext cx="8345949" cy="47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76250" y="2203825"/>
            <a:ext cx="35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(Val)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476250" y="2908838"/>
            <a:ext cx="35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(Test)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476250" y="3504388"/>
            <a:ext cx="35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Reg. (Val)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76250" y="4099938"/>
            <a:ext cx="35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Reg. (Test)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Importance Ranking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 title="feature_importance_rank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425" y="1314450"/>
            <a:ext cx="9163225" cy="52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325700" y="2041975"/>
            <a:ext cx="117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 Level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69632" y="2679966"/>
            <a:ext cx="226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Molecular Weight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759388" y="3320744"/>
            <a:ext cx="17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Ethylene Oxide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902265" y="3942846"/>
            <a:ext cx="17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Concentration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718469" y="4636866"/>
            <a:ext cx="194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# / HLB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476250" y="533400"/>
            <a:ext cx="117157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Roadmap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76250" y="1171575"/>
            <a:ext cx="112395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76250" y="3175694"/>
            <a:ext cx="11239500" cy="28575"/>
          </a:xfrm>
          <a:prstGeom prst="roundRect">
            <a:avLst>
              <a:gd fmla="val 16667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9757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Model Selection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76250" y="3994844"/>
            <a:ext cx="314697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Compare Gradient Boosting, Elastic Net, and SVR. Tune hyperparameters for both original and constant-pH scenarios.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443765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522440" y="3994844"/>
            <a:ext cx="314697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Report MAE/RMSE metrics. Generate SHAP plots to interpret complex non-linear feature interactions.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489956" y="3556694"/>
            <a:ext cx="330431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Optimization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568630" y="3994844"/>
            <a:ext cx="314697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Translate the best performing model into a tool for recommending optimal inhibitor structures and dosages.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935435" y="5263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981625" y="498916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0027815" y="498916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